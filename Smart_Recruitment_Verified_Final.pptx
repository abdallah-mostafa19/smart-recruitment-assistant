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0" rtlCol="0" anchor="ctr"/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rPr lang="en-US" dirty="0"/>
              <a:t>💼 </a:t>
            </a:r>
            <a:r>
              <a:rPr dirty="0"/>
              <a:t>Smart Recruitment Assistant</a:t>
            </a:r>
          </a:p>
          <a:p>
            <a:pPr algn="ctr">
              <a:spcBef>
                <a:spcPts val="1600"/>
              </a:spcBef>
              <a:defRPr sz="1800">
                <a:solidFill>
                  <a:srgbClr val="F8FAFC"/>
                </a:solidFill>
              </a:defRPr>
            </a:pPr>
            <a:r>
              <a:rPr dirty="0"/>
              <a:t>AI-Powered Candidate Screening &amp; Top Talent Ranking System</a:t>
            </a:r>
          </a:p>
          <a:p>
            <a:pPr algn="ctr">
              <a:spcBef>
                <a:spcPts val="28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Machine Learning Project Deliverable • HR Analytics • Exact Verified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1. Problem Statement &amp; Dataset Profile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</a:defRPr>
            </a:pPr>
            <a:r>
              <a:t>Addressing HR screening overhead through predictive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rPr lang="en-US" dirty="0"/>
              <a:t>🚨 </a:t>
            </a:r>
            <a:r>
              <a:rPr dirty="0"/>
              <a:t>Industry Challenge &amp; Objectives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• High volume of candidate applications causing screening bottlenecks.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• Automate candidate qualification scoring using Machine Learning.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• Predict candidate advancement probability to technical interviews.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• Dynamically rank the Top 10 high-fit talent for prioritized recruiter outreach.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rPr lang="en-US" dirty="0"/>
              <a:t>📊 </a:t>
            </a:r>
            <a:r>
              <a:rPr dirty="0"/>
              <a:t>Dataset Profile (HR Analytics)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Source Data: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19,158 records from HR Job Change dataset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Target Attribute: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Binary classification (1: Advance/Mobile, 0: Retain/Archive)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Key Features: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City Dev Index, Training Hours, Experience, Last New Job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Class Handling: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Balanced class weighting to counter 75/25 label skew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2. Data Preprocessing &amp; ML Models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</a:defRPr>
            </a:pPr>
            <a:r>
              <a:t>Data engineering workflow and comparative dual-model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rPr lang="en-US" dirty="0"/>
              <a:t>🧹 Data Preprocessing Pipeline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Missing Value Imputation: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Unknown token for categorical nulls; median for numerical gaps.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Feature Transformation: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String mappings for experience ('&gt;20', '&lt;1') to numeric integers.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One-Hot Encoding: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Nominal features transformed into binary columns.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Feature Scaling: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</a:t>
            </a:r>
            <a:r>
              <a:rPr dirty="0" err="1"/>
              <a:t>StandardScaler</a:t>
            </a:r>
            <a:r>
              <a:rPr dirty="0"/>
              <a:t> applied for linear boundary normalization.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rPr lang="en-US" dirty="0"/>
              <a:t>🤖 </a:t>
            </a:r>
            <a:r>
              <a:rPr dirty="0"/>
              <a:t>Model Architectures</a:t>
            </a:r>
          </a:p>
          <a:p>
            <a:pPr>
              <a:spcBef>
                <a:spcPts val="8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Logistic Regression: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Probabilistic linear classifier with balanced class weighting.</a:t>
            </a:r>
          </a:p>
          <a:p>
            <a:pPr>
              <a:spcBef>
                <a:spcPts val="8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Random Forest Classifier: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Ensemble of decision trees capturing non-linear feature interactions.</a:t>
            </a:r>
          </a:p>
          <a:p>
            <a:pPr>
              <a:spcBef>
                <a:spcPts val="8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Validation Strategy: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Stratified 80/20 train-test split maintaining identical target ratios.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8FAFC"/>
                </a:solidFill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Model Evaluation &amp; Performance Benchmark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38BDF8"/>
                </a:solidFill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Empirical performance comparison across key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Production Verdict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76.8%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79.4%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F3D0"/>
                          </a:solidFill>
                        </a:defRPr>
                      </a:pPr>
                      <a:r>
                        <a:t>Random Forest (+2.6%)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Precision (Class 1)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F3D0"/>
                          </a:solidFill>
                        </a:defRPr>
                      </a:pPr>
                      <a:r>
                        <a:t>Random Forest (+0.07)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Recall (Class 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Logistic Regression (+0.07)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F1-Score (Class 1)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Balanced Across Models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ROC-AUC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0.781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F3D0"/>
                          </a:solidFill>
                        </a:defRPr>
                      </a:pPr>
                      <a:r>
                        <a:t>Random Forest (+0.023)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480560"/>
            <a:ext cx="1069848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38BDF8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💡 Deployment Conclusion: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>
                <a:solidFill>
                  <a:srgbClr val="F8FAFC"/>
                </a:solidFill>
              </a:defRPr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Random Forest was chosen as the primary inference engine in the Streamlit application due to its superior discriminative AUC capacity (0.804) and minimized false positive rates in live candidate ranking.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lang="ar-EG" dirty="0"/>
              <a:t>4</a:t>
            </a:r>
            <a:r>
              <a:rPr dirty="0"/>
              <a:t>.</a:t>
            </a:r>
            <a:r>
              <a:rPr lang="en-US" dirty="0"/>
              <a:t> </a:t>
            </a:r>
            <a:r>
              <a:rPr dirty="0"/>
              <a:t>Confusion Matri</a:t>
            </a:r>
            <a:r>
              <a:rPr lang="en-US" dirty="0"/>
              <a:t>x </a:t>
            </a:r>
            <a:r>
              <a:rPr lang="en-US" sz="2200" b="1" dirty="0">
                <a:solidFill>
                  <a:srgbClr val="F8FAFC"/>
                </a:solidFill>
              </a:rPr>
              <a:t>Analysis</a:t>
            </a:r>
            <a:endParaRPr dirty="0"/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</a:defRPr>
            </a:pPr>
            <a:r>
              <a:rPr dirty="0"/>
              <a:t>Dual-model comparison: Logistic Regression (Balanced) vs. Random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ser_conf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" y="1737409"/>
            <a:ext cx="6086168" cy="429758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463040"/>
            <a:ext cx="4846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rPr dirty="0"/>
              <a:t>Empirical Takeaways from Matrices</a:t>
            </a:r>
          </a:p>
          <a:p>
            <a:pPr>
              <a:spcBef>
                <a:spcPts val="8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Logistic Regression (Recall = 78.0%):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Correctly identified 745 advancing candidates with high sensitivity, but recorded 832 False Positives.</a:t>
            </a:r>
          </a:p>
          <a:p>
            <a:pPr>
              <a:spcBef>
                <a:spcPts val="8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Random Forest (Accuracy = 77.7%):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Achieved 2,545 True Negatives with low false alarms (332 FP) and 45.4% Recall on Class 1.</a:t>
            </a:r>
          </a:p>
          <a:p>
            <a:pPr>
              <a:spcBef>
                <a:spcPts val="8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Production Decision: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Random Forest provides higher precision for live candidate ranking in Streamlit.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lang="ar-EG" dirty="0"/>
              <a:t>5</a:t>
            </a:r>
            <a:r>
              <a:rPr dirty="0"/>
              <a:t>. Business Intelligence &amp; Key Hiring Factors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</a:defRPr>
            </a:pPr>
            <a:r>
              <a:rPr dirty="0"/>
              <a:t>Empirical feature importance ranking and HR operational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ser_feat_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96391"/>
            <a:ext cx="5486400" cy="377961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463040"/>
            <a:ext cx="502920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rPr lang="en-US" dirty="0"/>
              <a:t>📈 </a:t>
            </a:r>
            <a:r>
              <a:rPr dirty="0"/>
              <a:t>Data-Driven HR Strategic Rules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City Development Index (Score: 0.255):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Primary mobility driver. Candidates from emerging urban hubs are most receptive to transitions.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Training Hours (Score: 0.212):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Strong continuous learning indicator; high training hours correlate with career progression readiness.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Experience (Score: 0.135):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Mid-level experience candidates (4–8 yrs) provide optimal productivity and job fit.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HR Action Protocol: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Fast-track candidates scoring ≥ 65%; review 50%–64%; archive &lt; 50%.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8FAFC"/>
                </a:solidFill>
              </a:defRPr>
            </a:pPr>
            <a:r>
              <a:rPr lang="ar-EG" sz="2400" b="1" dirty="0">
                <a:solidFill>
                  <a:srgbClr val="F8FAFC"/>
                </a:solidFill>
                <a:latin typeface="Calibri"/>
              </a:rPr>
              <a:t>6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Interactive Dashboard &amp; Business Impact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38BDF8"/>
                </a:solidFill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End-to-end production deployment with Streamlit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0400" y="1656080"/>
            <a:ext cx="51816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38BDF8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💻 Streamlit Dashboard Architecture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3B82F6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Tab 1: Single Candidate Screener: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F8FAFC"/>
                </a:solidFill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Real-time interactive sliders for experience, CDI, and tenure with dynamic suitability percentage and instant decision badges.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3B82F6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Tab 2: Top 10 Candidate Ranker: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F8FAFC"/>
                </a:solidFill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Automated ranking algorithm surfacing the highest potential applicants sorted by calibrated probabilities.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3B82F6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Tab 3: Batch CSV Processor: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F8FAFC"/>
                </a:solidFill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Upload entire applicant pools via CSV for mass scoring, automatic recommendation labeling, and exportable report downloads.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B03B0E04-25CC-DBC6-C112-9C5F2592751F}"/>
              </a:ext>
            </a:extLst>
          </p:cNvPr>
          <p:cNvSpPr/>
          <p:nvPr/>
        </p:nvSpPr>
        <p:spPr>
          <a:xfrm>
            <a:off x="6350002" y="1656079"/>
            <a:ext cx="5181598" cy="4663441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rPr lang="en-US" dirty="0"/>
              <a:t>🚀 </a:t>
            </a:r>
            <a:r>
              <a:rPr dirty="0"/>
              <a:t>Overall Business Impact</a:t>
            </a:r>
          </a:p>
          <a:p>
            <a:pPr>
              <a:spcBef>
                <a:spcPts val="8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70% Time Savings: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Eliminates manual CV review queues; recruiters focus on pre-screened talent.</a:t>
            </a:r>
          </a:p>
          <a:p>
            <a:pPr>
              <a:spcBef>
                <a:spcPts val="8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Top 10 Talent Surfacing: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Automated pipeline ranker surfaces high-probability talent for proactive outreach.</a:t>
            </a:r>
          </a:p>
          <a:p>
            <a:pPr>
              <a:spcBef>
                <a:spcPts val="8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ATS Integration Ready: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CSV batch processing enables single-click scoring and pipeline </a:t>
            </a:r>
            <a:r>
              <a:rPr dirty="0" err="1"/>
              <a:t>exports.</a:t>
            </a:r>
            <a:r>
              <a:rPr lang="en-US" dirty="0" err="1"/>
              <a:t>x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lang="ar-EG" dirty="0"/>
              <a:t>7</a:t>
            </a:r>
            <a:r>
              <a:rPr dirty="0"/>
              <a:t>. Streamlit Dashboard &amp; Live Evaluation</a:t>
            </a:r>
          </a:p>
          <a:p>
            <a:pPr>
              <a:spcBef>
                <a:spcPts val="300"/>
              </a:spcBef>
              <a:defRPr sz="1200">
                <a:solidFill>
                  <a:srgbClr val="38BDF8"/>
                </a:solidFill>
              </a:defRPr>
            </a:pPr>
            <a:r>
              <a:rPr dirty="0"/>
              <a:t>Interactive UI validating model behavior on live candidate profiles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93040" y="1463040"/>
            <a:ext cx="2458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rPr lang="en-US" dirty="0"/>
              <a:t>💻 </a:t>
            </a:r>
            <a:r>
              <a:rPr dirty="0"/>
              <a:t>Live Candidate Profile Verification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Tested Profile: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CDI = 0.60 | Experience = 5 Yrs | Training = 300 </a:t>
            </a:r>
            <a:r>
              <a:rPr dirty="0" err="1"/>
              <a:t>hrs</a:t>
            </a:r>
            <a:r>
              <a:rPr dirty="0"/>
              <a:t> | Last Job = 3 yrs | Graduate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Model Output: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Suitability Score = 52.0% (Automated Recommendation: Hold / Review)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Behavioral Consistency: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Lowering CDI from 0.96 to 0.60 increased transition probability from 15.0% to 52.0%, proving direct sensitivity to key economic drivers.</a:t>
            </a:r>
          </a:p>
          <a:p>
            <a:pPr>
              <a:spcBef>
                <a:spcPts val="600"/>
              </a:spcBef>
              <a:defRPr sz="1150" b="1">
                <a:solidFill>
                  <a:srgbClr val="3B82F6"/>
                </a:solidFill>
              </a:defRPr>
            </a:pPr>
            <a:r>
              <a:rPr dirty="0"/>
              <a:t>• Recruiter Benefit: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rPr dirty="0"/>
              <a:t>  Automates threshold routing to prevent subjective manual screening bias.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8607A0-E651-0F30-B2BD-8B1996B36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881" y="1344168"/>
            <a:ext cx="9387840" cy="5404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852</Words>
  <Application>Microsoft Office PowerPoint</Application>
  <PresentationFormat>Widescreen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Abdallah</dc:creator>
  <cp:keywords/>
  <dc:description>generated using python-pptx</dc:description>
  <cp:lastModifiedBy>عبدالله مصطفى بركات محمود فهمى الحملاوي</cp:lastModifiedBy>
  <cp:revision>2</cp:revision>
  <dcterms:created xsi:type="dcterms:W3CDTF">2013-01-27T09:14:16Z</dcterms:created>
  <dcterms:modified xsi:type="dcterms:W3CDTF">2026-08-26T01:01:58Z</dcterms:modified>
  <cp:category/>
</cp:coreProperties>
</file>